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8229600" cx="14630400"/>
  <p:notesSz cx="8229600" cy="14630400"/>
  <p:embeddedFontLst>
    <p:embeddedFont>
      <p:font typeface="Merriweather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erriweather-bold.fntdata"/><Relationship Id="rId14" Type="http://schemas.openxmlformats.org/officeDocument/2006/relationships/font" Target="fonts/Merriweather-regular.fntdata"/><Relationship Id="rId17" Type="http://schemas.openxmlformats.org/officeDocument/2006/relationships/font" Target="fonts/Merriweather-boldItalic.fntdata"/><Relationship Id="rId16" Type="http://schemas.openxmlformats.org/officeDocument/2006/relationships/font" Target="fonts/Merriweather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" name="Google Shape;1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" name="Google Shape;1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" name="Google Shape;29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10" Type="http://schemas.openxmlformats.org/officeDocument/2006/relationships/image" Target="../media/image8.png"/><Relationship Id="rId9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10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/>
          <p:nvPr/>
        </p:nvSpPr>
        <p:spPr>
          <a:xfrm>
            <a:off x="665500" y="2057250"/>
            <a:ext cx="126828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7039"/>
              <a:buFont typeface="Merriweather"/>
              <a:buNone/>
            </a:pPr>
            <a:r>
              <a:rPr b="0" i="0" lang="en-US" sz="7039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Agentic Document Processor </a:t>
            </a:r>
            <a:endParaRPr b="0" i="0" sz="7039" u="none" cap="none" strike="noStrike"/>
          </a:p>
        </p:txBody>
      </p:sp>
      <p:sp>
        <p:nvSpPr>
          <p:cNvPr id="44" name="Google Shape;44;p12"/>
          <p:cNvSpPr/>
          <p:nvPr/>
        </p:nvSpPr>
        <p:spPr>
          <a:xfrm>
            <a:off x="665500" y="3893163"/>
            <a:ext cx="187272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758"/>
              <a:buFont typeface="Merriweather"/>
              <a:buNone/>
            </a:pPr>
            <a:r>
              <a:rPr b="0" i="0" lang="en-US" sz="2757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Multi-Agent AI Pipeline with LangGraph</a:t>
            </a:r>
            <a:endParaRPr b="0" i="0" sz="2757" u="none" cap="none" strike="noStrike"/>
          </a:p>
        </p:txBody>
      </p:sp>
      <p:sp>
        <p:nvSpPr>
          <p:cNvPr id="45" name="Google Shape;45;p12"/>
          <p:cNvSpPr/>
          <p:nvPr/>
        </p:nvSpPr>
        <p:spPr>
          <a:xfrm>
            <a:off x="665500" y="4869182"/>
            <a:ext cx="18727200" cy="11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758"/>
              <a:buFont typeface="Merriweather"/>
              <a:buNone/>
            </a:pPr>
            <a:r>
              <a:rPr b="0" i="0" lang="en-US" sz="2757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Charan L</a:t>
            </a:r>
            <a:endParaRPr b="0" i="0" sz="2757" u="none" cap="none" strike="noStrike"/>
          </a:p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758"/>
              <a:buFont typeface="Merriweather"/>
              <a:buNone/>
            </a:pPr>
            <a:r>
              <a:rPr b="0" i="0" lang="en-US" sz="2757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Intern — AI, Data &amp; AI</a:t>
            </a:r>
            <a:endParaRPr b="0" i="0" sz="2757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823436" y="725924"/>
            <a:ext cx="5882045" cy="735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4600"/>
              <a:buFont typeface="Merriweather"/>
              <a:buNone/>
            </a:pPr>
            <a:r>
              <a:rPr b="0" i="0" lang="en-US" sz="4600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Statement</a:t>
            </a:r>
            <a:endParaRPr b="0" i="0" sz="4600" u="none" cap="none" strike="noStrike"/>
          </a:p>
        </p:txBody>
      </p:sp>
      <p:sp>
        <p:nvSpPr>
          <p:cNvPr id="52" name="Google Shape;52;p13"/>
          <p:cNvSpPr/>
          <p:nvPr/>
        </p:nvSpPr>
        <p:spPr>
          <a:xfrm>
            <a:off x="823436" y="2034540"/>
            <a:ext cx="117634" cy="117634"/>
          </a:xfrm>
          <a:prstGeom prst="roundRect">
            <a:avLst>
              <a:gd fmla="val 388663" name="adj"/>
            </a:avLst>
          </a:prstGeom>
          <a:solidFill>
            <a:srgbClr val="609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1165265" y="1909643"/>
            <a:ext cx="2940963" cy="367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300"/>
              <a:buFont typeface="Merriweather"/>
              <a:buNone/>
            </a:pPr>
            <a:r>
              <a:rPr b="0" i="0" lang="en-US" sz="23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Problem:</a:t>
            </a:r>
            <a:endParaRPr b="0" i="0" sz="2300" u="none" cap="none" strike="noStrike"/>
          </a:p>
        </p:txBody>
      </p:sp>
      <p:sp>
        <p:nvSpPr>
          <p:cNvPr id="54" name="Google Shape;54;p13"/>
          <p:cNvSpPr/>
          <p:nvPr/>
        </p:nvSpPr>
        <p:spPr>
          <a:xfrm>
            <a:off x="1165265" y="2411730"/>
            <a:ext cx="3799165" cy="391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405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50"/>
              <a:buFont typeface="Merriweather"/>
              <a:buChar char="•"/>
            </a:pPr>
            <a:r>
              <a:rPr b="0" i="0" lang="en-US" sz="185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Enterprises handle large volumes of unstructured documents</a:t>
            </a:r>
            <a:endParaRPr b="0" i="0" sz="1850" u="none" cap="none" strike="noStrike"/>
          </a:p>
          <a:p>
            <a:pPr indent="-342900" lvl="0" marL="342900" marR="0" rtl="0" algn="l">
              <a:lnSpc>
                <a:spcPct val="15405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50"/>
              <a:buFont typeface="Merriweather"/>
              <a:buChar char="•"/>
            </a:pPr>
            <a:r>
              <a:rPr b="0" i="0" lang="en-US" sz="185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Manual processing is slow, inconsistent, and error-prone</a:t>
            </a:r>
            <a:endParaRPr b="0" i="0" sz="1850" u="none" cap="none" strike="noStrike"/>
          </a:p>
          <a:p>
            <a:pPr indent="-342900" lvl="0" marL="342900" marR="0" rtl="0" algn="l">
              <a:lnSpc>
                <a:spcPct val="15405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50"/>
              <a:buFont typeface="Merriweather"/>
              <a:buChar char="•"/>
            </a:pPr>
            <a:r>
              <a:rPr b="0" i="0" lang="en-US" sz="185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Single-model dependency introduces reliability risk</a:t>
            </a:r>
            <a:endParaRPr b="0" i="0" sz="1850" u="none" cap="none" strike="noStrike"/>
          </a:p>
          <a:p>
            <a:pPr indent="-342900" lvl="0" marL="342900" marR="0" rtl="0" algn="l">
              <a:lnSpc>
                <a:spcPct val="15405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50"/>
              <a:buFont typeface="Merriweather"/>
              <a:buChar char="•"/>
            </a:pPr>
            <a:r>
              <a:rPr b="0" i="0" lang="en-US" sz="185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Weak validation and redaction increase compliance risk</a:t>
            </a:r>
            <a:endParaRPr b="0" i="0" sz="1850" u="none" cap="none" strike="noStrike"/>
          </a:p>
        </p:txBody>
      </p:sp>
      <p:sp>
        <p:nvSpPr>
          <p:cNvPr id="55" name="Google Shape;55;p13"/>
          <p:cNvSpPr/>
          <p:nvPr/>
        </p:nvSpPr>
        <p:spPr>
          <a:xfrm>
            <a:off x="5244703" y="2034540"/>
            <a:ext cx="117634" cy="117634"/>
          </a:xfrm>
          <a:prstGeom prst="roundRect">
            <a:avLst>
              <a:gd fmla="val 388663" name="adj"/>
            </a:avLst>
          </a:prstGeom>
          <a:solidFill>
            <a:srgbClr val="609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5586532" y="1909643"/>
            <a:ext cx="2940963" cy="367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300"/>
              <a:buFont typeface="Merriweather"/>
              <a:buNone/>
            </a:pPr>
            <a:r>
              <a:rPr b="0" i="0" lang="en-US" sz="23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Scope:</a:t>
            </a:r>
            <a:endParaRPr b="0" i="0" sz="2300" u="none" cap="none" strike="noStrike"/>
          </a:p>
        </p:txBody>
      </p:sp>
      <p:sp>
        <p:nvSpPr>
          <p:cNvPr id="57" name="Google Shape;57;p13"/>
          <p:cNvSpPr/>
          <p:nvPr/>
        </p:nvSpPr>
        <p:spPr>
          <a:xfrm>
            <a:off x="5586532" y="2411730"/>
            <a:ext cx="3799165" cy="509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405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50"/>
              <a:buFont typeface="Merriweather"/>
              <a:buChar char="•"/>
            </a:pPr>
            <a:r>
              <a:rPr b="0" i="0" lang="en-US" sz="185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End-to-end pipeline: classify → extract → validate → repair → redact → report</a:t>
            </a:r>
            <a:endParaRPr b="0" i="0" sz="1850" u="none" cap="none" strike="noStrike"/>
          </a:p>
          <a:p>
            <a:pPr indent="-342900" lvl="0" marL="342900" marR="0" rtl="0" algn="l">
              <a:lnSpc>
                <a:spcPct val="15405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50"/>
              <a:buFont typeface="Merriweather"/>
              <a:buChar char="•"/>
            </a:pPr>
            <a:r>
              <a:rPr b="0" i="0" lang="en-US" sz="185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Unified handling of multiple document types in one workflow</a:t>
            </a:r>
            <a:endParaRPr b="0" i="0" sz="1850" u="none" cap="none" strike="noStrike"/>
          </a:p>
          <a:p>
            <a:pPr indent="-342900" lvl="0" marL="342900" marR="0" rtl="0" algn="l">
              <a:lnSpc>
                <a:spcPct val="15405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50"/>
              <a:buFont typeface="Merriweather"/>
              <a:buChar char="•"/>
            </a:pPr>
            <a:r>
              <a:rPr b="0" i="0" lang="en-US" sz="185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Structured machine-readable outputs for downstream systems</a:t>
            </a:r>
            <a:endParaRPr b="0" i="0" sz="1850" u="none" cap="none" strike="noStrike"/>
          </a:p>
          <a:p>
            <a:pPr indent="-342900" lvl="0" marL="342900" marR="0" rtl="0" algn="l">
              <a:lnSpc>
                <a:spcPct val="15405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50"/>
              <a:buFont typeface="Merriweather"/>
              <a:buChar char="•"/>
            </a:pPr>
            <a:r>
              <a:rPr b="0" i="0" lang="en-US" sz="185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Built-in quality checks and responsible-AI traceability</a:t>
            </a:r>
            <a:endParaRPr b="0" i="0" sz="1850" u="none" cap="none" strike="noStrike"/>
          </a:p>
          <a:p>
            <a:pPr indent="-342900" lvl="0" marL="342900" marR="0" rtl="0" algn="l">
              <a:lnSpc>
                <a:spcPct val="15405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50"/>
              <a:buFont typeface="Merriweather"/>
              <a:buChar char="•"/>
            </a:pPr>
            <a:r>
              <a:rPr b="0" i="0" lang="en-US" sz="185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Reliability-first design with fallback execution strategy</a:t>
            </a:r>
            <a:endParaRPr b="0" i="0" sz="185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9665970" y="2034540"/>
            <a:ext cx="117634" cy="117634"/>
          </a:xfrm>
          <a:prstGeom prst="roundRect">
            <a:avLst>
              <a:gd fmla="val 388663" name="adj"/>
            </a:avLst>
          </a:prstGeom>
          <a:solidFill>
            <a:srgbClr val="609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10007798" y="1909643"/>
            <a:ext cx="2940963" cy="367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300"/>
              <a:buFont typeface="Merriweather"/>
              <a:buNone/>
            </a:pPr>
            <a:r>
              <a:rPr b="0" i="0" lang="en-US" sz="23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Need:</a:t>
            </a:r>
            <a:endParaRPr b="0" i="0" sz="2300" u="none" cap="none" strike="noStrike"/>
          </a:p>
        </p:txBody>
      </p:sp>
      <p:sp>
        <p:nvSpPr>
          <p:cNvPr id="60" name="Google Shape;60;p13"/>
          <p:cNvSpPr/>
          <p:nvPr/>
        </p:nvSpPr>
        <p:spPr>
          <a:xfrm>
            <a:off x="10007798" y="2411730"/>
            <a:ext cx="3799165" cy="3175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405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50"/>
              <a:buFont typeface="Merriweather"/>
              <a:buChar char="•"/>
            </a:pPr>
            <a:r>
              <a:rPr b="0" i="0" lang="en-US" sz="185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Reduce manual effort and turnaround time</a:t>
            </a:r>
            <a:endParaRPr b="0" i="0" sz="1850" u="none" cap="none" strike="noStrike"/>
          </a:p>
          <a:p>
            <a:pPr indent="-342900" lvl="0" marL="342900" marR="0" rtl="0" algn="l">
              <a:lnSpc>
                <a:spcPct val="15405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50"/>
              <a:buFont typeface="Merriweather"/>
              <a:buChar char="•"/>
            </a:pPr>
            <a:r>
              <a:rPr b="0" i="0" lang="en-US" sz="185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Improve extraction quality and consistency</a:t>
            </a:r>
            <a:endParaRPr b="0" i="0" sz="1850" u="none" cap="none" strike="noStrike"/>
          </a:p>
          <a:p>
            <a:pPr indent="-342900" lvl="0" marL="342900" marR="0" rtl="0" algn="l">
              <a:lnSpc>
                <a:spcPct val="15405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50"/>
              <a:buFont typeface="Merriweather"/>
              <a:buChar char="•"/>
            </a:pPr>
            <a:r>
              <a:rPr b="0" i="0" lang="en-US" sz="185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Protect sensitive data through PII masking</a:t>
            </a:r>
            <a:endParaRPr b="0" i="0" sz="1850" u="none" cap="none" strike="noStrike"/>
          </a:p>
          <a:p>
            <a:pPr indent="-342900" lvl="0" marL="342900" marR="0" rtl="0" algn="l">
              <a:lnSpc>
                <a:spcPct val="15405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50"/>
              <a:buFont typeface="Merriweather"/>
              <a:buChar char="•"/>
            </a:pPr>
            <a:r>
              <a:rPr b="0" i="0" lang="en-US" sz="185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Provide audit-ready processing transparency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268900" y="1334575"/>
            <a:ext cx="7746600" cy="9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6089"/>
              <a:buFont typeface="Merriweather"/>
              <a:buNone/>
            </a:pPr>
            <a:r>
              <a:rPr b="0" i="0" lang="en-US" sz="6088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Solution</a:t>
            </a:r>
            <a:endParaRPr b="0" i="0" sz="6088" u="none" cap="none" strike="noStrike"/>
          </a:p>
        </p:txBody>
      </p:sp>
      <p:sp>
        <p:nvSpPr>
          <p:cNvPr id="67" name="Google Shape;67;p14"/>
          <p:cNvSpPr/>
          <p:nvPr/>
        </p:nvSpPr>
        <p:spPr>
          <a:xfrm>
            <a:off x="268900" y="2922586"/>
            <a:ext cx="161985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385"/>
              <a:buFont typeface="Merriweather"/>
              <a:buNone/>
            </a:pPr>
            <a:r>
              <a:rPr b="0" i="0" lang="en-US" sz="2385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This illustrates the robust 6-agent LangGraph workflow for end-to-end document processing.</a:t>
            </a:r>
            <a:endParaRPr b="0" i="0" sz="2385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268900" y="3766814"/>
            <a:ext cx="16198500" cy="23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30486" lvl="0" marL="430485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385"/>
              <a:buFont typeface="Merriweather"/>
              <a:buChar char="•"/>
            </a:pPr>
            <a:r>
              <a:rPr b="0" i="0" lang="en-US" sz="2385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Built a 6-agent LangGraph workflow</a:t>
            </a:r>
            <a:endParaRPr b="0" i="0" sz="2385" u="none" cap="none" strike="noStrike"/>
          </a:p>
          <a:p>
            <a:pPr indent="-430486" lvl="0" marL="430485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385"/>
              <a:buFont typeface="Merriweather"/>
              <a:buChar char="•"/>
            </a:pPr>
            <a:r>
              <a:rPr b="0" i="0" lang="en-US" sz="2385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Agent flow: Classify → Extract → Validate → Self-Repair (conditional) → Redact → Report</a:t>
            </a:r>
            <a:endParaRPr b="0" i="0" sz="2385" u="none" cap="none" strike="noStrike"/>
          </a:p>
          <a:p>
            <a:pPr indent="-430486" lvl="0" marL="430485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385"/>
              <a:buFont typeface="Merriweather"/>
              <a:buChar char="•"/>
            </a:pPr>
            <a:r>
              <a:rPr b="0" i="0" lang="en-US" sz="2385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Produces validated JSON, redacted content, metrics, and trace logs</a:t>
            </a:r>
            <a:endParaRPr b="0" i="0" sz="2385" u="none" cap="none" strike="noStrike"/>
          </a:p>
          <a:p>
            <a:pPr indent="-430486" lvl="0" marL="430485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385"/>
              <a:buFont typeface="Merriweather"/>
              <a:buChar char="•"/>
            </a:pPr>
            <a:r>
              <a:rPr b="0" i="0" lang="en-US" sz="2385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Exposed through API and UI for practical usage</a:t>
            </a:r>
            <a:endParaRPr b="0" i="0" sz="2385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518925" y="607375"/>
            <a:ext cx="11930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5401"/>
              <a:buFont typeface="Merriweather"/>
              <a:buNone/>
            </a:pPr>
            <a:r>
              <a:rPr b="0" i="0" lang="en-US" sz="5400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Architecture — What &amp; Why</a:t>
            </a:r>
            <a:endParaRPr b="0" i="0" sz="5400" u="none" cap="none" strike="noStrike"/>
          </a:p>
        </p:txBody>
      </p:sp>
      <p:sp>
        <p:nvSpPr>
          <p:cNvPr id="75" name="Google Shape;75;p15"/>
          <p:cNvSpPr/>
          <p:nvPr/>
        </p:nvSpPr>
        <p:spPr>
          <a:xfrm>
            <a:off x="1873939" y="1825225"/>
            <a:ext cx="41529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3182"/>
              <a:buFont typeface="Merriweather"/>
              <a:buNone/>
            </a:pPr>
            <a:r>
              <a:rPr b="0" i="0" lang="en-US" sz="3182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What:</a:t>
            </a:r>
            <a:endParaRPr b="0" i="0" sz="3182" u="none" cap="none" strike="noStrike"/>
          </a:p>
        </p:txBody>
      </p:sp>
      <p:sp>
        <p:nvSpPr>
          <p:cNvPr id="76" name="Google Shape;76;p15"/>
          <p:cNvSpPr/>
          <p:nvPr/>
        </p:nvSpPr>
        <p:spPr>
          <a:xfrm>
            <a:off x="1873939" y="2505425"/>
            <a:ext cx="8526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661369" lvl="0" marL="66137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122"/>
              <a:buFont typeface="Merriweather"/>
              <a:buChar char="•"/>
            </a:pPr>
            <a:r>
              <a:rPr b="0" i="0" lang="en-US" sz="2121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Modular multi-agent architecture</a:t>
            </a:r>
            <a:endParaRPr b="0" i="0" sz="2121" u="none" cap="none" strike="noStrike"/>
          </a:p>
          <a:p>
            <a:pPr indent="-661369" lvl="0" marL="66137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122"/>
              <a:buFont typeface="Merriweather"/>
              <a:buChar char="•"/>
            </a:pPr>
            <a:r>
              <a:rPr b="0" i="0" lang="en-US" sz="2121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Stateful orchestration</a:t>
            </a:r>
            <a:endParaRPr b="0" i="0" sz="2121" u="none" cap="none" strike="noStrike"/>
          </a:p>
          <a:p>
            <a:pPr indent="-661369" lvl="0" marL="66137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122"/>
              <a:buFont typeface="Merriweather"/>
              <a:buChar char="•"/>
            </a:pPr>
            <a:r>
              <a:rPr b="0" i="0" lang="en-US" sz="2121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Conditional repair path</a:t>
            </a:r>
            <a:endParaRPr b="0" i="0" sz="2121" u="none" cap="none" strike="noStrike"/>
          </a:p>
          <a:p>
            <a:pPr indent="-661369" lvl="0" marL="66137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122"/>
              <a:buFont typeface="Merriweather"/>
              <a:buChar char="•"/>
            </a:pPr>
            <a:r>
              <a:rPr b="0" i="0" lang="en-US" sz="2121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Fallback-based LLM execution chain</a:t>
            </a:r>
            <a:endParaRPr b="0" i="0" sz="2121" u="none" cap="none" strike="noStrike"/>
          </a:p>
        </p:txBody>
      </p:sp>
      <p:sp>
        <p:nvSpPr>
          <p:cNvPr id="77" name="Google Shape;77;p15"/>
          <p:cNvSpPr/>
          <p:nvPr/>
        </p:nvSpPr>
        <p:spPr>
          <a:xfrm>
            <a:off x="1873939" y="4236009"/>
            <a:ext cx="41529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3182"/>
              <a:buFont typeface="Merriweather"/>
              <a:buNone/>
            </a:pPr>
            <a:r>
              <a:rPr b="0" i="0" lang="en-US" sz="3182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Why:</a:t>
            </a:r>
            <a:endParaRPr b="0" i="0" sz="3182" u="none" cap="none" strike="noStrike"/>
          </a:p>
        </p:txBody>
      </p:sp>
      <p:sp>
        <p:nvSpPr>
          <p:cNvPr id="78" name="Google Shape;78;p15"/>
          <p:cNvSpPr/>
          <p:nvPr/>
        </p:nvSpPr>
        <p:spPr>
          <a:xfrm>
            <a:off x="1873939" y="4916210"/>
            <a:ext cx="8526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661369" lvl="0" marL="66137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122"/>
              <a:buFont typeface="Merriweather"/>
              <a:buChar char="•"/>
            </a:pPr>
            <a:r>
              <a:rPr b="0" i="0" lang="en-US" sz="2121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Higher reliability during provider failures</a:t>
            </a:r>
            <a:endParaRPr b="0" i="0" sz="2121" u="none" cap="none" strike="noStrike"/>
          </a:p>
          <a:p>
            <a:pPr indent="-661369" lvl="0" marL="66137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122"/>
              <a:buFont typeface="Merriweather"/>
              <a:buChar char="•"/>
            </a:pPr>
            <a:r>
              <a:rPr b="0" i="0" lang="en-US" sz="2121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Better quality through validation + repair loop</a:t>
            </a:r>
            <a:endParaRPr b="0" i="0" sz="2121" u="none" cap="none" strike="noStrike"/>
          </a:p>
          <a:p>
            <a:pPr indent="-661369" lvl="0" marL="66137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122"/>
              <a:buFont typeface="Merriweather"/>
              <a:buChar char="•"/>
            </a:pPr>
            <a:r>
              <a:rPr b="0" i="0" lang="en-US" sz="2121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Better compliance through redaction + trace logs</a:t>
            </a:r>
            <a:endParaRPr b="0" i="0" sz="2121" u="none" cap="none" strike="noStrike"/>
          </a:p>
          <a:p>
            <a:pPr indent="-661369" lvl="0" marL="66137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122"/>
              <a:buFont typeface="Merriweather"/>
              <a:buChar char="•"/>
            </a:pPr>
            <a:r>
              <a:rPr b="0" i="0" lang="en-US" sz="2121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Easier maintenance and extensibility via modular agents</a:t>
            </a:r>
            <a:endParaRPr b="0" i="0" sz="2121" u="none" cap="none" strike="noStrike"/>
          </a:p>
        </p:txBody>
      </p:sp>
      <p:pic>
        <p:nvPicPr>
          <p:cNvPr descr="preencoded.png" id="79" name="Google Shape;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86775" y="356063"/>
            <a:ext cx="2384175" cy="751747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/>
          <p:nvPr/>
        </p:nvSpPr>
        <p:spPr>
          <a:xfrm>
            <a:off x="7591306" y="7415093"/>
            <a:ext cx="4233743" cy="18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774174" y="1086600"/>
            <a:ext cx="67293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5117"/>
              <a:buFont typeface="Merriweather"/>
              <a:buNone/>
            </a:pPr>
            <a:r>
              <a:rPr b="0" i="0" lang="en-US" sz="5117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High-Level Workflow</a:t>
            </a:r>
            <a:endParaRPr b="0" i="0" sz="5117" u="none" cap="none" strike="noStrike"/>
          </a:p>
        </p:txBody>
      </p:sp>
      <p:sp>
        <p:nvSpPr>
          <p:cNvPr id="87" name="Google Shape;87;p16"/>
          <p:cNvSpPr/>
          <p:nvPr/>
        </p:nvSpPr>
        <p:spPr>
          <a:xfrm>
            <a:off x="774174" y="2444961"/>
            <a:ext cx="7681200" cy="41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7779" lvl="0" marL="417779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10"/>
              <a:buFont typeface="Merriweather"/>
              <a:buChar char="•"/>
            </a:pPr>
            <a:r>
              <a:rPr b="0" i="0" lang="en-US" sz="201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Input document — accepts PDF, DOCX, TXT, image</a:t>
            </a:r>
            <a:endParaRPr b="0" i="0" sz="2010" u="none" cap="none" strike="noStrike"/>
          </a:p>
          <a:p>
            <a:pPr indent="-417779" lvl="0" marL="417779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10"/>
              <a:buFont typeface="Merriweather"/>
              <a:buChar char="•"/>
            </a:pPr>
            <a:r>
              <a:rPr b="0" i="0" lang="en-US" sz="201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Loader / OCR — extracts text; OCR used for scanned files</a:t>
            </a:r>
            <a:endParaRPr b="0" i="0" sz="2010" u="none" cap="none" strike="noStrike"/>
          </a:p>
          <a:p>
            <a:pPr indent="-417779" lvl="0" marL="417779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10"/>
              <a:buFont typeface="Merriweather"/>
              <a:buChar char="•"/>
            </a:pPr>
            <a:r>
              <a:rPr b="0" i="0" lang="en-US" sz="201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Classifier — identifies document type for routing</a:t>
            </a:r>
            <a:endParaRPr b="0" i="0" sz="2010" u="none" cap="none" strike="noStrike"/>
          </a:p>
          <a:p>
            <a:pPr indent="-417779" lvl="0" marL="417779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10"/>
              <a:buFont typeface="Merriweather"/>
              <a:buChar char="•"/>
            </a:pPr>
            <a:r>
              <a:rPr b="0" i="0" lang="en-US" sz="201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Extractor — converts content into structured fields</a:t>
            </a:r>
            <a:endParaRPr b="0" i="0" sz="2010" u="none" cap="none" strike="noStrike"/>
          </a:p>
          <a:p>
            <a:pPr indent="-417779" lvl="0" marL="417779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10"/>
              <a:buFont typeface="Merriweather"/>
              <a:buChar char="•"/>
            </a:pPr>
            <a:r>
              <a:rPr b="0" i="0" lang="en-US" sz="201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Validator — checks schema/rules and quality</a:t>
            </a:r>
            <a:endParaRPr b="0" i="0" sz="2010" u="none" cap="none" strike="noStrike"/>
          </a:p>
          <a:p>
            <a:pPr indent="-417779" lvl="0" marL="417779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10"/>
              <a:buFont typeface="Merriweather"/>
              <a:buChar char="•"/>
            </a:pPr>
            <a:r>
              <a:rPr b="0" i="0" lang="en-US" sz="201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Repair path (if needed) — retries low-quality extraction</a:t>
            </a:r>
            <a:endParaRPr b="0" i="0" sz="2010" u="none" cap="none" strike="noStrike"/>
          </a:p>
          <a:p>
            <a:pPr indent="-417779" lvl="0" marL="417779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10"/>
              <a:buFont typeface="Merriweather"/>
              <a:buChar char="•"/>
            </a:pPr>
            <a:r>
              <a:rPr b="0" i="0" lang="en-US" sz="201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Redactor — detects and masks sensitive PII</a:t>
            </a:r>
            <a:endParaRPr b="0" i="0" sz="2010" u="none" cap="none" strike="noStrike"/>
          </a:p>
          <a:p>
            <a:pPr indent="-417779" lvl="0" marL="417779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10"/>
              <a:buFont typeface="Merriweather"/>
              <a:buChar char="•"/>
            </a:pPr>
            <a:r>
              <a:rPr b="0" i="0" lang="en-US" sz="201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Reporter — compiles metrics and audit trace</a:t>
            </a:r>
            <a:endParaRPr b="0" i="0" sz="2010" u="none" cap="none" strike="noStrike"/>
          </a:p>
          <a:p>
            <a:pPr indent="-417779" lvl="0" marL="417779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10"/>
              <a:buFont typeface="Merriweather"/>
              <a:buChar char="•"/>
            </a:pPr>
            <a:r>
              <a:rPr b="0" i="0" lang="en-US" sz="201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Outputs — validated JSON, redacted text, logs, reports</a:t>
            </a:r>
            <a:endParaRPr b="0" i="0" sz="2010" u="none" cap="none" strike="noStrike"/>
          </a:p>
        </p:txBody>
      </p:sp>
      <p:pic>
        <p:nvPicPr>
          <p:cNvPr descr="preencoded.png" id="88" name="Google Shape;8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750" y="701825"/>
            <a:ext cx="4761025" cy="714142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/>
          <p:nvPr/>
        </p:nvSpPr>
        <p:spPr>
          <a:xfrm>
            <a:off x="7584043" y="7077313"/>
            <a:ext cx="6304598" cy="319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SzPts val="1650"/>
              <a:buFont typeface="Arial"/>
              <a:buNone/>
            </a:pPr>
            <a:r>
              <a:t/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/>
          <p:nvPr/>
        </p:nvSpPr>
        <p:spPr>
          <a:xfrm>
            <a:off x="410626" y="363550"/>
            <a:ext cx="54807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88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4260"/>
              <a:buFont typeface="Merriweather"/>
              <a:buNone/>
            </a:pPr>
            <a:r>
              <a:rPr b="0" i="0" lang="en-US" sz="4260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Key Features</a:t>
            </a:r>
            <a:endParaRPr b="0" i="0" sz="4260" u="none" cap="none" strike="noStrike"/>
          </a:p>
        </p:txBody>
      </p:sp>
      <p:pic>
        <p:nvPicPr>
          <p:cNvPr descr="preencoded.png" id="96" name="Google Shape;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626" y="1377594"/>
            <a:ext cx="547953" cy="54795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/>
          <p:nvPr/>
        </p:nvSpPr>
        <p:spPr>
          <a:xfrm>
            <a:off x="410626" y="2131118"/>
            <a:ext cx="67731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16"/>
              <a:buFont typeface="Merriweather"/>
              <a:buNone/>
            </a:pPr>
            <a:r>
              <a:rPr b="1" i="0" lang="en-US" sz="1715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LangGraph-based stateful orchestration</a:t>
            </a:r>
            <a:r>
              <a:rPr b="0" i="0" lang="en-US" sz="1715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for dynamic and adaptive process flows.</a:t>
            </a:r>
            <a:endParaRPr b="0" i="0" sz="1715" u="none" cap="none" strike="noStrike"/>
          </a:p>
        </p:txBody>
      </p:sp>
      <p:pic>
        <p:nvPicPr>
          <p:cNvPr descr="preencoded.png" id="98" name="Google Shape;9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9190" y="1377594"/>
            <a:ext cx="547953" cy="54795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/>
          <p:nvPr/>
        </p:nvSpPr>
        <p:spPr>
          <a:xfrm>
            <a:off x="7389190" y="2131118"/>
            <a:ext cx="67731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16"/>
              <a:buFont typeface="Merriweather"/>
              <a:buNone/>
            </a:pPr>
            <a:r>
              <a:rPr b="1" i="0" lang="en-US" sz="1715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Conditional self-repair</a:t>
            </a:r>
            <a:r>
              <a:rPr b="0" i="0" lang="en-US" sz="1715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mechanisms for handling and correcting low-quality outputs.</a:t>
            </a:r>
            <a:endParaRPr b="0" i="0" sz="1715" u="none" cap="none" strike="noStrike"/>
          </a:p>
        </p:txBody>
      </p:sp>
      <p:pic>
        <p:nvPicPr>
          <p:cNvPr descr="preencoded.png" id="100" name="Google Shape;10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0626" y="3074149"/>
            <a:ext cx="547953" cy="54795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410626" y="3827673"/>
            <a:ext cx="67731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16"/>
              <a:buFont typeface="Merriweather"/>
              <a:buNone/>
            </a:pPr>
            <a:r>
              <a:rPr b="1" i="0" lang="en-US" sz="1715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Schema-driven extraction and validation checks</a:t>
            </a:r>
            <a:r>
              <a:rPr b="0" i="0" lang="en-US" sz="1715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ensuring data integrity and accuracy.</a:t>
            </a:r>
            <a:endParaRPr b="0" i="0" sz="1715" u="none" cap="none" strike="noStrike"/>
          </a:p>
        </p:txBody>
      </p:sp>
      <p:pic>
        <p:nvPicPr>
          <p:cNvPr descr="preencoded.png" id="102" name="Google Shape;10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89190" y="3074149"/>
            <a:ext cx="547953" cy="54795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/>
          <p:nvPr/>
        </p:nvSpPr>
        <p:spPr>
          <a:xfrm>
            <a:off x="7389190" y="3827673"/>
            <a:ext cx="67731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16"/>
              <a:buFont typeface="Merriweather"/>
              <a:buNone/>
            </a:pPr>
            <a:r>
              <a:rPr b="1" i="0" lang="en-US" sz="1715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Hybrid PII redaction approach</a:t>
            </a:r>
            <a:r>
              <a:rPr b="0" i="0" lang="en-US" sz="1715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to protect sensitive information securely.</a:t>
            </a:r>
            <a:endParaRPr b="0" i="0" sz="1715" u="none" cap="none" strike="noStrike"/>
          </a:p>
        </p:txBody>
      </p:sp>
      <p:pic>
        <p:nvPicPr>
          <p:cNvPr descr="preencoded.png" id="104" name="Google Shape;10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0626" y="4770705"/>
            <a:ext cx="547953" cy="54795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/>
          <p:nvPr/>
        </p:nvSpPr>
        <p:spPr>
          <a:xfrm>
            <a:off x="410626" y="5524228"/>
            <a:ext cx="67731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16"/>
              <a:buFont typeface="Merriweather"/>
              <a:buNone/>
            </a:pPr>
            <a:r>
              <a:rPr b="1" i="0" lang="en-US" sz="1715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Responsible-AI decision trace logging</a:t>
            </a:r>
            <a:r>
              <a:rPr b="0" i="0" lang="en-US" sz="1715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for transparency and accountability.</a:t>
            </a:r>
            <a:endParaRPr b="0" i="0" sz="1715" u="none" cap="none" strike="noStrike"/>
          </a:p>
        </p:txBody>
      </p:sp>
      <p:pic>
        <p:nvPicPr>
          <p:cNvPr descr="preencoded.png" id="106" name="Google Shape;10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89190" y="4770705"/>
            <a:ext cx="547953" cy="54795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/>
          <p:nvPr/>
        </p:nvSpPr>
        <p:spPr>
          <a:xfrm>
            <a:off x="7389190" y="5524228"/>
            <a:ext cx="67731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16"/>
              <a:buFont typeface="Merriweather"/>
              <a:buNone/>
            </a:pPr>
            <a:r>
              <a:rPr b="1" i="0" lang="en-US" sz="1715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Multi-provider fallback</a:t>
            </a:r>
            <a:r>
              <a:rPr b="0" i="0" lang="en-US" sz="1715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for resilient and uninterrupted execution.</a:t>
            </a:r>
            <a:endParaRPr b="0" i="0" sz="1715" u="none" cap="none" strike="noStrike"/>
          </a:p>
        </p:txBody>
      </p:sp>
      <p:pic>
        <p:nvPicPr>
          <p:cNvPr descr="preencoded.png" id="108" name="Google Shape;10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0626" y="6467259"/>
            <a:ext cx="547953" cy="54795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/>
          <p:nvPr/>
        </p:nvSpPr>
        <p:spPr>
          <a:xfrm>
            <a:off x="410626" y="7220784"/>
            <a:ext cx="67731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16"/>
              <a:buFont typeface="Merriweather"/>
              <a:buNone/>
            </a:pPr>
            <a:r>
              <a:rPr b="1" i="0" lang="en-US" sz="1715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API + Streamlit interfaces</a:t>
            </a:r>
            <a:r>
              <a:rPr b="0" i="0" lang="en-US" sz="1715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providing flexible and user-friendly interaction.</a:t>
            </a:r>
            <a:endParaRPr b="0" i="0" sz="1715" u="none" cap="none" strike="noStrike"/>
          </a:p>
        </p:txBody>
      </p:sp>
      <p:pic>
        <p:nvPicPr>
          <p:cNvPr descr="preencoded.png" id="110" name="Google Shape;110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89190" y="6467259"/>
            <a:ext cx="547953" cy="54795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/>
          <p:nvPr/>
        </p:nvSpPr>
        <p:spPr>
          <a:xfrm>
            <a:off x="7389190" y="7220784"/>
            <a:ext cx="67731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16"/>
              <a:buFont typeface="Merriweather"/>
              <a:buNone/>
            </a:pPr>
            <a:r>
              <a:rPr b="1" i="0" lang="en-US" sz="1715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Support path for OCR-based document processing</a:t>
            </a:r>
            <a:r>
              <a:rPr b="0" i="0" lang="en-US" sz="1715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to handle scanned files efficiently.</a:t>
            </a:r>
            <a:endParaRPr b="0" i="0" sz="1715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/>
          <p:nvPr/>
        </p:nvSpPr>
        <p:spPr>
          <a:xfrm>
            <a:off x="848916" y="686395"/>
            <a:ext cx="7395805" cy="757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63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4750"/>
              <a:buFont typeface="Merriweather"/>
              <a:buNone/>
            </a:pPr>
            <a:r>
              <a:rPr b="0" i="0" lang="en-US" sz="4750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Evaluation / Performance</a:t>
            </a:r>
            <a:endParaRPr b="0" i="0" sz="4750" u="none" cap="none" strike="noStrike"/>
          </a:p>
        </p:txBody>
      </p:sp>
      <p:sp>
        <p:nvSpPr>
          <p:cNvPr id="118" name="Google Shape;118;p18"/>
          <p:cNvSpPr/>
          <p:nvPr/>
        </p:nvSpPr>
        <p:spPr>
          <a:xfrm>
            <a:off x="848916" y="2042279"/>
            <a:ext cx="3009662" cy="800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6300"/>
              <a:buFont typeface="Merriweather"/>
              <a:buNone/>
            </a:pPr>
            <a:r>
              <a:rPr b="0" i="0" lang="en-US" sz="63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100.0%</a:t>
            </a:r>
            <a:endParaRPr b="0" i="0" sz="6300" u="none" cap="none" strike="noStrike"/>
          </a:p>
        </p:txBody>
      </p:sp>
      <p:sp>
        <p:nvSpPr>
          <p:cNvPr id="119" name="Google Shape;119;p18"/>
          <p:cNvSpPr/>
          <p:nvPr/>
        </p:nvSpPr>
        <p:spPr>
          <a:xfrm>
            <a:off x="848916" y="3142655"/>
            <a:ext cx="3009662" cy="757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350"/>
              <a:buFont typeface="Merriweather"/>
              <a:buNone/>
            </a:pPr>
            <a:r>
              <a:rPr b="0" i="0" lang="en-US" sz="235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Classification Accuracy</a:t>
            </a:r>
            <a:endParaRPr b="0" i="0" sz="2350" u="none" cap="none" strike="noStrike"/>
          </a:p>
        </p:txBody>
      </p:sp>
      <p:sp>
        <p:nvSpPr>
          <p:cNvPr id="120" name="Google Shape;120;p18"/>
          <p:cNvSpPr/>
          <p:nvPr/>
        </p:nvSpPr>
        <p:spPr>
          <a:xfrm>
            <a:off x="4156472" y="2042279"/>
            <a:ext cx="3009781" cy="800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6300"/>
              <a:buFont typeface="Merriweather"/>
              <a:buNone/>
            </a:pPr>
            <a:r>
              <a:rPr b="0" i="0" lang="en-US" sz="63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93.4%</a:t>
            </a:r>
            <a:endParaRPr b="0" i="0" sz="6300" u="none" cap="none" strike="noStrike"/>
          </a:p>
        </p:txBody>
      </p:sp>
      <p:sp>
        <p:nvSpPr>
          <p:cNvPr id="121" name="Google Shape;121;p18"/>
          <p:cNvSpPr/>
          <p:nvPr/>
        </p:nvSpPr>
        <p:spPr>
          <a:xfrm>
            <a:off x="4156472" y="3142655"/>
            <a:ext cx="3009781" cy="757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350"/>
              <a:buFont typeface="Merriweather"/>
              <a:buNone/>
            </a:pPr>
            <a:r>
              <a:rPr b="0" i="0" lang="en-US" sz="235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Extraction Accuracy (avg)</a:t>
            </a:r>
            <a:endParaRPr b="0" i="0" sz="2350" u="none" cap="none" strike="noStrike"/>
          </a:p>
        </p:txBody>
      </p:sp>
      <p:sp>
        <p:nvSpPr>
          <p:cNvPr id="122" name="Google Shape;122;p18"/>
          <p:cNvSpPr/>
          <p:nvPr/>
        </p:nvSpPr>
        <p:spPr>
          <a:xfrm>
            <a:off x="7464147" y="2042279"/>
            <a:ext cx="3009662" cy="800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6300"/>
              <a:buFont typeface="Merriweather"/>
              <a:buNone/>
            </a:pPr>
            <a:r>
              <a:rPr b="0" i="0" lang="en-US" sz="63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98.1%</a:t>
            </a:r>
            <a:endParaRPr b="0" i="0" sz="6300" u="none" cap="none" strike="noStrike"/>
          </a:p>
        </p:txBody>
      </p:sp>
      <p:sp>
        <p:nvSpPr>
          <p:cNvPr id="123" name="Google Shape;123;p18"/>
          <p:cNvSpPr/>
          <p:nvPr/>
        </p:nvSpPr>
        <p:spPr>
          <a:xfrm>
            <a:off x="7464147" y="3142655"/>
            <a:ext cx="3009662" cy="757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350"/>
              <a:buFont typeface="Merriweather"/>
              <a:buNone/>
            </a:pPr>
            <a:r>
              <a:rPr b="0" i="0" lang="en-US" sz="235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PII Recall (aggregate)</a:t>
            </a:r>
            <a:endParaRPr b="0" i="0" sz="2350" u="none" cap="none" strike="noStrike"/>
          </a:p>
        </p:txBody>
      </p:sp>
      <p:sp>
        <p:nvSpPr>
          <p:cNvPr id="124" name="Google Shape;124;p18"/>
          <p:cNvSpPr/>
          <p:nvPr/>
        </p:nvSpPr>
        <p:spPr>
          <a:xfrm>
            <a:off x="10771703" y="2042279"/>
            <a:ext cx="3009781" cy="800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6300"/>
              <a:buFont typeface="Merriweather"/>
              <a:buNone/>
            </a:pPr>
            <a:r>
              <a:rPr b="0" i="0" lang="en-US" sz="63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94.6%</a:t>
            </a:r>
            <a:endParaRPr b="0" i="0" sz="6300" u="none" cap="none" strike="noStrike"/>
          </a:p>
        </p:txBody>
      </p:sp>
      <p:sp>
        <p:nvSpPr>
          <p:cNvPr id="125" name="Google Shape;125;p18"/>
          <p:cNvSpPr/>
          <p:nvPr/>
        </p:nvSpPr>
        <p:spPr>
          <a:xfrm>
            <a:off x="10771703" y="3142655"/>
            <a:ext cx="3009781" cy="757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350"/>
              <a:buFont typeface="Merriweather"/>
              <a:buNone/>
            </a:pPr>
            <a:r>
              <a:rPr b="0" i="0" lang="en-US" sz="235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PII Precision (aggregate)</a:t>
            </a:r>
            <a:endParaRPr b="0" i="0" sz="2350" u="none" cap="none" strike="noStrike"/>
          </a:p>
        </p:txBody>
      </p:sp>
      <p:sp>
        <p:nvSpPr>
          <p:cNvPr id="126" name="Google Shape;126;p18"/>
          <p:cNvSpPr/>
          <p:nvPr/>
        </p:nvSpPr>
        <p:spPr>
          <a:xfrm>
            <a:off x="4156472" y="4498538"/>
            <a:ext cx="3009781" cy="800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6300"/>
              <a:buFont typeface="Merriweather"/>
              <a:buNone/>
            </a:pPr>
            <a:r>
              <a:rPr b="0" i="0" lang="en-US" sz="63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100.0%</a:t>
            </a:r>
            <a:endParaRPr b="0" i="0" sz="6300" u="none" cap="none" strike="noStrike"/>
          </a:p>
        </p:txBody>
      </p:sp>
      <p:sp>
        <p:nvSpPr>
          <p:cNvPr id="127" name="Google Shape;127;p18"/>
          <p:cNvSpPr/>
          <p:nvPr/>
        </p:nvSpPr>
        <p:spPr>
          <a:xfrm>
            <a:off x="4156472" y="5598914"/>
            <a:ext cx="3009781" cy="378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350"/>
              <a:buFont typeface="Merriweather"/>
              <a:buNone/>
            </a:pPr>
            <a:r>
              <a:rPr b="0" i="0" lang="en-US" sz="235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Workflow Pass Rate</a:t>
            </a:r>
            <a:endParaRPr b="0" i="0" sz="2350" u="none" cap="none" strike="noStrike"/>
          </a:p>
        </p:txBody>
      </p:sp>
      <p:sp>
        <p:nvSpPr>
          <p:cNvPr id="128" name="Google Shape;128;p18"/>
          <p:cNvSpPr/>
          <p:nvPr/>
        </p:nvSpPr>
        <p:spPr>
          <a:xfrm>
            <a:off x="7464147" y="4498538"/>
            <a:ext cx="3009662" cy="800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6300"/>
              <a:buFont typeface="Merriweather"/>
              <a:buNone/>
            </a:pPr>
            <a:r>
              <a:rPr b="0" i="0" lang="en-US" sz="63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7.89s</a:t>
            </a:r>
            <a:endParaRPr b="0" i="0" sz="6300" u="none" cap="none" strike="noStrike"/>
          </a:p>
        </p:txBody>
      </p:sp>
      <p:sp>
        <p:nvSpPr>
          <p:cNvPr id="129" name="Google Shape;129;p18"/>
          <p:cNvSpPr/>
          <p:nvPr/>
        </p:nvSpPr>
        <p:spPr>
          <a:xfrm>
            <a:off x="7464147" y="5598914"/>
            <a:ext cx="3009662" cy="378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350"/>
              <a:buFont typeface="Merriweather"/>
              <a:buNone/>
            </a:pPr>
            <a:r>
              <a:rPr b="0" i="0" lang="en-US" sz="235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Latency</a:t>
            </a:r>
            <a:endParaRPr b="0" i="0" sz="2350" u="none" cap="none" strike="noStrike"/>
          </a:p>
        </p:txBody>
      </p:sp>
      <p:sp>
        <p:nvSpPr>
          <p:cNvPr id="130" name="Google Shape;130;p18"/>
          <p:cNvSpPr/>
          <p:nvPr/>
        </p:nvSpPr>
        <p:spPr>
          <a:xfrm>
            <a:off x="7464147" y="6120884"/>
            <a:ext cx="3009662" cy="384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P95 12.99s</a:t>
            </a:r>
            <a:endParaRPr b="0" i="0" sz="1900" u="none" cap="none" strike="noStrike"/>
          </a:p>
        </p:txBody>
      </p:sp>
      <p:sp>
        <p:nvSpPr>
          <p:cNvPr id="131" name="Google Shape;131;p18"/>
          <p:cNvSpPr/>
          <p:nvPr/>
        </p:nvSpPr>
        <p:spPr>
          <a:xfrm>
            <a:off x="848916" y="6773704"/>
            <a:ext cx="12932569" cy="769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None/>
            </a:pPr>
            <a:r>
              <a:rPr b="0" i="0" lang="en-US" sz="19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Evaluated on 28 documents across 6 document types, these key performance indicators highlight the system's efficiency and accuracy.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/>
          <p:nvPr/>
        </p:nvSpPr>
        <p:spPr>
          <a:xfrm>
            <a:off x="291850" y="527975"/>
            <a:ext cx="68856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5412"/>
              <a:buFont typeface="Merriweather"/>
              <a:buNone/>
            </a:pPr>
            <a:r>
              <a:rPr b="0" i="0" lang="en-US" sz="5411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Scope</a:t>
            </a:r>
            <a:endParaRPr b="0" i="0" sz="5411" u="none" cap="none" strike="noStrike"/>
          </a:p>
        </p:txBody>
      </p:sp>
      <p:sp>
        <p:nvSpPr>
          <p:cNvPr id="138" name="Google Shape;138;p19"/>
          <p:cNvSpPr/>
          <p:nvPr/>
        </p:nvSpPr>
        <p:spPr>
          <a:xfrm>
            <a:off x="116225" y="1973344"/>
            <a:ext cx="3392700" cy="1940700"/>
          </a:xfrm>
          <a:prstGeom prst="roundRect">
            <a:avLst>
              <a:gd fmla="val 5961" name="adj"/>
            </a:avLst>
          </a:prstGeom>
          <a:solidFill>
            <a:srgbClr val="09151A">
              <a:alpha val="94901"/>
            </a:srgbClr>
          </a:solidFill>
          <a:ln cap="flat" cmpd="sng" w="34025">
            <a:solidFill>
              <a:srgbClr val="19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025" lIns="102025" spcFirstLastPara="1" rIns="102025" wrap="square" tIns="10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425653" y="2282772"/>
            <a:ext cx="2774100" cy="13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120"/>
              <a:buFont typeface="Merriweather"/>
              <a:buNone/>
            </a:pPr>
            <a:r>
              <a:rPr b="0" i="0" lang="en-US" sz="212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Batch + parallel document processing</a:t>
            </a:r>
            <a:endParaRPr b="0" i="0" sz="2120" u="none" cap="none" strike="noStrike"/>
          </a:p>
        </p:txBody>
      </p:sp>
      <p:sp>
        <p:nvSpPr>
          <p:cNvPr id="140" name="Google Shape;140;p19"/>
          <p:cNvSpPr/>
          <p:nvPr/>
        </p:nvSpPr>
        <p:spPr>
          <a:xfrm>
            <a:off x="3784453" y="1973344"/>
            <a:ext cx="3393000" cy="1940700"/>
          </a:xfrm>
          <a:prstGeom prst="roundRect">
            <a:avLst>
              <a:gd fmla="val 5961" name="adj"/>
            </a:avLst>
          </a:prstGeom>
          <a:solidFill>
            <a:srgbClr val="09151A">
              <a:alpha val="94901"/>
            </a:srgbClr>
          </a:solidFill>
          <a:ln cap="flat" cmpd="sng" w="34025">
            <a:solidFill>
              <a:srgbClr val="19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025" lIns="102025" spcFirstLastPara="1" rIns="102025" wrap="square" tIns="10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"/>
          <p:cNvSpPr/>
          <p:nvPr/>
        </p:nvSpPr>
        <p:spPr>
          <a:xfrm>
            <a:off x="4093881" y="2282772"/>
            <a:ext cx="2774100" cy="13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120"/>
              <a:buFont typeface="Merriweather"/>
              <a:buNone/>
            </a:pPr>
            <a:r>
              <a:rPr b="0" i="0" lang="en-US" sz="212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Confidence-based human review workflow</a:t>
            </a:r>
            <a:endParaRPr b="0" i="0" sz="2120" u="none" cap="none" strike="noStrike"/>
          </a:p>
        </p:txBody>
      </p:sp>
      <p:sp>
        <p:nvSpPr>
          <p:cNvPr id="142" name="Google Shape;142;p19"/>
          <p:cNvSpPr/>
          <p:nvPr/>
        </p:nvSpPr>
        <p:spPr>
          <a:xfrm>
            <a:off x="7452814" y="1973344"/>
            <a:ext cx="3393000" cy="1940700"/>
          </a:xfrm>
          <a:prstGeom prst="roundRect">
            <a:avLst>
              <a:gd fmla="val 5961" name="adj"/>
            </a:avLst>
          </a:prstGeom>
          <a:solidFill>
            <a:srgbClr val="09151A">
              <a:alpha val="94901"/>
            </a:srgbClr>
          </a:solidFill>
          <a:ln cap="flat" cmpd="sng" w="34025">
            <a:solidFill>
              <a:srgbClr val="19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025" lIns="102025" spcFirstLastPara="1" rIns="102025" wrap="square" tIns="10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9"/>
          <p:cNvSpPr/>
          <p:nvPr/>
        </p:nvSpPr>
        <p:spPr>
          <a:xfrm>
            <a:off x="7762241" y="2282772"/>
            <a:ext cx="2774100" cy="13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120"/>
              <a:buFont typeface="Merriweather"/>
              <a:buNone/>
            </a:pPr>
            <a:r>
              <a:rPr b="0" i="0" lang="en-US" sz="212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Better OCR for noisy scans and table-heavy files</a:t>
            </a:r>
            <a:endParaRPr b="0" i="0" sz="2120" u="none" cap="none" strike="noStrike"/>
          </a:p>
        </p:txBody>
      </p:sp>
      <p:sp>
        <p:nvSpPr>
          <p:cNvPr id="144" name="Google Shape;144;p19"/>
          <p:cNvSpPr/>
          <p:nvPr/>
        </p:nvSpPr>
        <p:spPr>
          <a:xfrm>
            <a:off x="11121173" y="1973344"/>
            <a:ext cx="3393000" cy="1940700"/>
          </a:xfrm>
          <a:prstGeom prst="roundRect">
            <a:avLst>
              <a:gd fmla="val 5961" name="adj"/>
            </a:avLst>
          </a:prstGeom>
          <a:solidFill>
            <a:srgbClr val="09151A">
              <a:alpha val="94901"/>
            </a:srgbClr>
          </a:solidFill>
          <a:ln cap="flat" cmpd="sng" w="34025">
            <a:solidFill>
              <a:srgbClr val="19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025" lIns="102025" spcFirstLastPara="1" rIns="102025" wrap="square" tIns="10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11430602" y="2282772"/>
            <a:ext cx="2774100" cy="13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120"/>
              <a:buFont typeface="Merriweather"/>
              <a:buNone/>
            </a:pPr>
            <a:r>
              <a:rPr b="0" i="0" lang="en-US" sz="212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Domain-adapted extraction/validation templates</a:t>
            </a:r>
            <a:endParaRPr b="0" i="0" sz="2120" u="none" cap="none" strike="noStrike"/>
          </a:p>
        </p:txBody>
      </p:sp>
      <p:sp>
        <p:nvSpPr>
          <p:cNvPr id="146" name="Google Shape;146;p19"/>
          <p:cNvSpPr/>
          <p:nvPr/>
        </p:nvSpPr>
        <p:spPr>
          <a:xfrm>
            <a:off x="116225" y="4189299"/>
            <a:ext cx="3392700" cy="2381100"/>
          </a:xfrm>
          <a:prstGeom prst="roundRect">
            <a:avLst>
              <a:gd fmla="val 4858" name="adj"/>
            </a:avLst>
          </a:prstGeom>
          <a:solidFill>
            <a:srgbClr val="09151A">
              <a:alpha val="94901"/>
            </a:srgbClr>
          </a:solidFill>
          <a:ln cap="flat" cmpd="sng" w="34025">
            <a:solidFill>
              <a:srgbClr val="19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025" lIns="102025" spcFirstLastPara="1" rIns="102025" wrap="square" tIns="10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425653" y="4498728"/>
            <a:ext cx="2774100" cy="13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120"/>
              <a:buFont typeface="Merriweather"/>
              <a:buNone/>
            </a:pPr>
            <a:r>
              <a:rPr b="0" i="0" lang="en-US" sz="212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Latency optimization and caching strategy</a:t>
            </a:r>
            <a:endParaRPr b="0" i="0" sz="2120" u="none" cap="none" strike="noStrike"/>
          </a:p>
        </p:txBody>
      </p:sp>
      <p:sp>
        <p:nvSpPr>
          <p:cNvPr id="148" name="Google Shape;148;p19"/>
          <p:cNvSpPr/>
          <p:nvPr/>
        </p:nvSpPr>
        <p:spPr>
          <a:xfrm>
            <a:off x="3784453" y="4189299"/>
            <a:ext cx="3393000" cy="2381100"/>
          </a:xfrm>
          <a:prstGeom prst="roundRect">
            <a:avLst>
              <a:gd fmla="val 4858" name="adj"/>
            </a:avLst>
          </a:prstGeom>
          <a:solidFill>
            <a:srgbClr val="09151A">
              <a:alpha val="94901"/>
            </a:srgbClr>
          </a:solidFill>
          <a:ln cap="flat" cmpd="sng" w="34025">
            <a:solidFill>
              <a:srgbClr val="19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025" lIns="102025" spcFirstLastPara="1" rIns="102025" wrap="square" tIns="10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4093881" y="4498728"/>
            <a:ext cx="2774100" cy="13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120"/>
              <a:buFont typeface="Merriweather"/>
              <a:buNone/>
            </a:pPr>
            <a:r>
              <a:rPr b="0" i="0" lang="en-US" sz="212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Monitoring dashboards and failure/drift tracking</a:t>
            </a:r>
            <a:endParaRPr b="0" i="0" sz="2120" u="none" cap="none" strike="noStrike"/>
          </a:p>
        </p:txBody>
      </p:sp>
      <p:sp>
        <p:nvSpPr>
          <p:cNvPr id="150" name="Google Shape;150;p19"/>
          <p:cNvSpPr/>
          <p:nvPr/>
        </p:nvSpPr>
        <p:spPr>
          <a:xfrm>
            <a:off x="7452814" y="4189299"/>
            <a:ext cx="3393000" cy="2381100"/>
          </a:xfrm>
          <a:prstGeom prst="roundRect">
            <a:avLst>
              <a:gd fmla="val 4858" name="adj"/>
            </a:avLst>
          </a:prstGeom>
          <a:solidFill>
            <a:srgbClr val="09151A">
              <a:alpha val="94901"/>
            </a:srgbClr>
          </a:solidFill>
          <a:ln cap="flat" cmpd="sng" w="34025">
            <a:solidFill>
              <a:srgbClr val="19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025" lIns="102025" spcFirstLastPara="1" rIns="102025" wrap="square" tIns="10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7762241" y="4498728"/>
            <a:ext cx="2774100" cy="13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120"/>
              <a:buFont typeface="Merriweather"/>
              <a:buNone/>
            </a:pPr>
            <a:r>
              <a:rPr b="0" i="0" lang="en-US" sz="212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Policy-based redaction modes by use case</a:t>
            </a:r>
            <a:endParaRPr b="0" i="0" sz="2120" u="none" cap="none" strike="noStrike"/>
          </a:p>
        </p:txBody>
      </p:sp>
      <p:sp>
        <p:nvSpPr>
          <p:cNvPr id="152" name="Google Shape;152;p19"/>
          <p:cNvSpPr/>
          <p:nvPr/>
        </p:nvSpPr>
        <p:spPr>
          <a:xfrm>
            <a:off x="11121173" y="4189299"/>
            <a:ext cx="3393000" cy="2381100"/>
          </a:xfrm>
          <a:prstGeom prst="roundRect">
            <a:avLst>
              <a:gd fmla="val 4858" name="adj"/>
            </a:avLst>
          </a:prstGeom>
          <a:solidFill>
            <a:srgbClr val="09151A">
              <a:alpha val="94901"/>
            </a:srgbClr>
          </a:solidFill>
          <a:ln cap="flat" cmpd="sng" w="34025">
            <a:solidFill>
              <a:srgbClr val="19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025" lIns="102025" spcFirstLastPara="1" rIns="102025" wrap="square" tIns="10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11430602" y="4498728"/>
            <a:ext cx="2774100" cy="17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120"/>
              <a:buFont typeface="Merriweather"/>
              <a:buNone/>
            </a:pPr>
            <a:r>
              <a:rPr b="0" i="0" lang="en-US" sz="212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Production deployment hardening and controls</a:t>
            </a:r>
            <a:endParaRPr b="0" i="0" sz="212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/>
          <p:nvPr/>
        </p:nvSpPr>
        <p:spPr>
          <a:xfrm>
            <a:off x="3652100" y="2630275"/>
            <a:ext cx="10813500" cy="13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8499"/>
              <a:buFont typeface="Merriweather"/>
              <a:buNone/>
            </a:pPr>
            <a:r>
              <a:rPr b="0" i="0" lang="en-US" sz="8499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 b="0" i="0" sz="8499" u="none" cap="none" strike="noStrike"/>
          </a:p>
        </p:txBody>
      </p:sp>
      <p:sp>
        <p:nvSpPr>
          <p:cNvPr id="160" name="Google Shape;160;p20"/>
          <p:cNvSpPr/>
          <p:nvPr/>
        </p:nvSpPr>
        <p:spPr>
          <a:xfrm>
            <a:off x="3652100" y="4846934"/>
            <a:ext cx="226107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3330"/>
              <a:buFont typeface="Merriweather"/>
              <a:buNone/>
            </a:pPr>
            <a:r>
              <a:rPr b="0" i="0" lang="en-US" sz="3329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 b="0" i="0" sz="3329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